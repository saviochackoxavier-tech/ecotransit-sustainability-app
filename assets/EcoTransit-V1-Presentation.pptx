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1.svg" ContentType="image/svg"/>
  <Override PartName="/ppt/media/image8.svg" ContentType="image/svg"/>
  <Override PartName="/ppt/media/image56.svg" ContentType="image/svg"/>
  <Override PartName="/ppt/media/image40.svg" ContentType="image/svg"/>
  <Override PartName="/ppt/media/image4.svg" ContentType="image/svg"/>
  <Override PartName="/ppt/media/image51.svg" ContentType="image/svg"/>
  <Override PartName="/ppt/media/image13.svg" ContentType="image/svg"/>
  <Override PartName="/ppt/media/image47.svg" ContentType="image/svg"/>
  <Override PartName="/ppt/media/image15.svg" ContentType="image/svg"/>
  <Override PartName="/ppt/media/image17.svg" ContentType="image/svg"/>
  <Override PartName="/ppt/media/image21.svg" ContentType="image/svg"/>
  <Override PartName="/ppt/media/image23.svg" ContentType="image/svg"/>
  <Override PartName="/ppt/media/image49.svg" ContentType="image/svg"/>
  <Override PartName="/ppt/media/image25.svg" ContentType="image/svg"/>
  <Override PartName="/ppt/media/image27.svg" ContentType="image/svg"/>
  <Override PartName="/ppt/media/image31.svg" ContentType="image/svg"/>
  <Override PartName="/ppt/media/image33.svg" ContentType="image/svg"/>
  <Override PartName="/ppt/media/image36.svg" ContentType="image/svg"/>
  <Override PartName="/ppt/media/image38.svg" ContentType="image/svg"/>
  <Override PartName="/ppt/media/image54.svg" ContentType="image/svg"/>
  <Override PartName="/ppt/media/image42.svg" ContentType="image/svg"/>
  <Override PartName="/ppt/media/image4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EF7B86F-8E59-4D11-9902-4B0EB309D3A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698B42-0B51-4560-9CCA-AF06840B86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DFE2C4-9B18-4622-8C56-0E1B14243E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98C95-289B-4FD1-9ECD-D0D5CCD931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092E1B-936E-4F96-975D-243C4B955A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1E8962-18BA-4074-A1DC-4023763398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ECBDDB-610A-4F10-820A-AD29F58FAB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52B66-356E-4034-992D-A652E2F3C5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294E3D-5889-47AD-97FD-C835DDA696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9E6D97-3DD3-49C9-B994-393E940383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2F4AB0-2E9D-43A3-B207-D64C666280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73865F-0C75-4B3A-845E-4C6891F4C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image" Target="../media/image22.png"/><Relationship Id="rId5" Type="http://schemas.openxmlformats.org/officeDocument/2006/relationships/image" Target="../media/image23.svg"/><Relationship Id="rId6" Type="http://schemas.openxmlformats.org/officeDocument/2006/relationships/image" Target="../media/image24.png"/><Relationship Id="rId7" Type="http://schemas.openxmlformats.org/officeDocument/2006/relationships/image" Target="../media/image25.svg"/><Relationship Id="rId8" Type="http://schemas.openxmlformats.org/officeDocument/2006/relationships/image" Target="../media/image26.png"/><Relationship Id="rId9" Type="http://schemas.openxmlformats.org/officeDocument/2006/relationships/image" Target="../media/image27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image" Target="../media/image32.png"/><Relationship Id="rId5" Type="http://schemas.openxmlformats.org/officeDocument/2006/relationships/image" Target="../media/image33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9.png"/><Relationship Id="rId7" Type="http://schemas.openxmlformats.org/officeDocument/2006/relationships/image" Target="../media/image40.svg"/><Relationship Id="rId8" Type="http://schemas.openxmlformats.org/officeDocument/2006/relationships/image" Target="../media/image41.png"/><Relationship Id="rId9" Type="http://schemas.openxmlformats.org/officeDocument/2006/relationships/image" Target="../media/image42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png"/><Relationship Id="rId3" Type="http://schemas.openxmlformats.org/officeDocument/2006/relationships/image" Target="../media/image45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Relationship Id="rId8" Type="http://schemas.openxmlformats.org/officeDocument/2006/relationships/image" Target="../media/image50.png"/><Relationship Id="rId9" Type="http://schemas.openxmlformats.org/officeDocument/2006/relationships/image" Target="../media/image51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png"/><Relationship Id="rId3" Type="http://schemas.openxmlformats.org/officeDocument/2006/relationships/image" Target="../media/image54.svg"/><Relationship Id="rId4" Type="http://schemas.openxmlformats.org/officeDocument/2006/relationships/image" Target="../media/image55.png"/><Relationship Id="rId5" Type="http://schemas.openxmlformats.org/officeDocument/2006/relationships/image" Target="../media/image56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Shape 1"/>
          <p:cNvSpPr/>
          <p:nvPr/>
        </p:nvSpPr>
        <p:spPr>
          <a:xfrm>
            <a:off x="6036120" y="-924840"/>
            <a:ext cx="3838320" cy="298080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B7F35C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6309000" y="770400"/>
            <a:ext cx="2195280" cy="164736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67E1E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640800" y="4722120"/>
            <a:ext cx="2009520" cy="9000"/>
          </a:xfrm>
          <a:prstGeom prst="rect">
            <a:avLst/>
          </a:prstGeom>
          <a:solidFill>
            <a:srgbClr val="B8F3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40080" y="420840"/>
            <a:ext cx="251028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5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ECOT</a:t>
            </a:r>
            <a:r>
              <a:rPr lang="en-US" sz="900" b="1" u="none" spc="25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RANS</a:t>
            </a:r>
            <a:r>
              <a:rPr lang="en-US" sz="900" b="1" u="none" spc="25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IT V1 </a:t>
            </a:r>
            <a:r>
              <a:rPr lang="en-US" sz="900" b="1" u="none" spc="25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/ </a:t>
            </a:r>
            <a:r>
              <a:rPr lang="en-US" sz="900" b="1" u="none" spc="25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639000" y="1060920"/>
            <a:ext cx="37800" cy="37800"/>
          </a:xfrm>
          <a:prstGeom prst="ellipse">
            <a:avLst/>
          </a:prstGeom>
          <a:solidFill>
            <a:srgbClr val="B8F3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85520" y="996840"/>
            <a:ext cx="5006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216"/>
              </a:spcAft>
              <a:tabLst>
                <a:tab pos="0" algn="l"/>
              </a:tabLst>
            </a:pPr>
            <a:r>
              <a:rPr lang="en-US" sz="970" b="0" u="none" spc="176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1M1B AI FOR SUSTAINABILITY VIRTUAL INTERNSHIP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640080" y="1245960"/>
            <a:ext cx="600228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EcoTr</a:t>
            </a: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ansit </a:t>
            </a: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V1: </a:t>
            </a: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Smar</a:t>
            </a: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t</a:t>
            </a:r>
            <a:endParaRPr lang="en-IN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40080" y="1765440"/>
            <a:ext cx="489816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Urban Mobility &amp;</a:t>
            </a:r>
            <a:endParaRPr lang="en-IN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640080" y="2285280"/>
            <a:ext cx="453420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Environmental-Impact</a:t>
            </a:r>
            <a:endParaRPr lang="en-IN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2328120" y="2805120"/>
            <a:ext cx="2563560" cy="6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80" b="1" u="none" spc="-252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Platform</a:t>
            </a:r>
            <a:endParaRPr lang="en-IN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40080" y="3590280"/>
            <a:ext cx="401652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D4E4E3"/>
                </a:solidFill>
                <a:effectLst/>
                <a:uFillTx/>
                <a:latin typeface="DM Sans"/>
                <a:ea typeface="DM Sans"/>
              </a:rPr>
              <a:t>AI for Sustainability Virtual Internship | In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D4E4E3"/>
                </a:solidFill>
                <a:effectLst/>
                <a:uFillTx/>
                <a:latin typeface="DM Sans"/>
                <a:ea typeface="DM Sans"/>
              </a:rPr>
              <a:t>collaboration with IBM SkillsBuild &amp; AICTE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640080" y="4453560"/>
            <a:ext cx="3274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B5C9C7"/>
                </a:solidFill>
                <a:effectLst/>
                <a:uFillTx/>
                <a:latin typeface="DM Sans"/>
                <a:ea typeface="DM Sans"/>
              </a:rPr>
              <a:t>Savio Chacko Xavier | STAS College / IGNOU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5322960" y="4474080"/>
            <a:ext cx="269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9000" y="4325400"/>
            <a:ext cx="4847760" cy="30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Shape 1"/>
          <p:cNvSpPr/>
          <p:nvPr/>
        </p:nvSpPr>
        <p:spPr>
          <a:xfrm>
            <a:off x="640080" y="411840"/>
            <a:ext cx="1371240" cy="9000"/>
          </a:xfrm>
          <a:prstGeom prst="rect">
            <a:avLst/>
          </a:prstGeom>
          <a:solidFill>
            <a:srgbClr val="B8F3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7230240" y="420840"/>
            <a:ext cx="1712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02 / FOUNDATION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640080" y="832320"/>
            <a:ext cx="4581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A MEASURABLE ROUTE TO BETTER CITIES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640080" y="1049040"/>
            <a:ext cx="81770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170" b="1" u="none" spc="-173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Project Foundation &amp; SDG Alignment</a:t>
            </a:r>
            <a:endParaRPr lang="en-IN" sz="3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641160" y="1916280"/>
            <a:ext cx="3838320" cy="2209320"/>
          </a:xfrm>
          <a:prstGeom prst="rect">
            <a:avLst/>
          </a:prstGeom>
          <a:solidFill>
            <a:srgbClr val="101D24">
              <a:alpha val="85000"/>
            </a:srgbClr>
          </a:solidFill>
          <a:ln w="4763">
            <a:solidFill>
              <a:srgbClr val="B9F25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3922200" y="2097720"/>
            <a:ext cx="4791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80" b="1" u="none" strike="noStrike">
                <a:solidFill>
                  <a:srgbClr val="395131"/>
                </a:solidFill>
                <a:effectLst/>
                <a:uFillTx/>
                <a:latin typeface="Space Grotesk"/>
                <a:ea typeface="Space Grotesk"/>
              </a:rPr>
              <a:t>11</a:t>
            </a:r>
            <a:endParaRPr lang="en-IN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919080" y="2205360"/>
            <a:ext cx="1428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87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PRIMARY SDG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919080" y="2443320"/>
            <a:ext cx="1079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202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SDG 11</a:t>
            </a:r>
            <a:endParaRPr lang="en-IN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919080" y="2811240"/>
            <a:ext cx="3501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220" b="0" u="none" strike="noStrike">
                <a:solidFill>
                  <a:srgbClr val="DCEBE8"/>
                </a:solidFill>
                <a:effectLst/>
                <a:uFillTx/>
                <a:latin typeface="DM Sans"/>
                <a:ea typeface="DM Sans"/>
              </a:rPr>
              <a:t>Sustainable Cities and Communities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919080" y="3235680"/>
            <a:ext cx="313848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0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Promoting lower-emission urban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0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transport modes (walking, cycling,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0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public transit, EVs).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1"/>
          <p:cNvSpPr/>
          <p:nvPr/>
        </p:nvSpPr>
        <p:spPr>
          <a:xfrm>
            <a:off x="4664520" y="1916280"/>
            <a:ext cx="3838320" cy="2209320"/>
          </a:xfrm>
          <a:prstGeom prst="rect">
            <a:avLst/>
          </a:prstGeom>
          <a:solidFill>
            <a:srgbClr val="101D24">
              <a:alpha val="85000"/>
            </a:srgbClr>
          </a:solidFill>
          <a:ln w="4763">
            <a:solidFill>
              <a:srgbClr val="69E1E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7886160" y="2097720"/>
            <a:ext cx="5565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80" b="1" u="none" strike="noStrike">
                <a:solidFill>
                  <a:srgbClr val="254C52"/>
                </a:solidFill>
                <a:effectLst/>
                <a:uFillTx/>
                <a:latin typeface="Space Grotesk"/>
                <a:ea typeface="Space Grotesk"/>
              </a:rPr>
              <a:t>13</a:t>
            </a:r>
            <a:endParaRPr lang="en-IN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4942440" y="2205360"/>
            <a:ext cx="17524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pc="187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SECONDARY SDG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4942440" y="2443320"/>
            <a:ext cx="113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202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SDG 13</a:t>
            </a:r>
            <a:endParaRPr lang="en-IN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4942440" y="2811240"/>
            <a:ext cx="14619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1220" b="0" u="none" strike="noStrike">
                <a:solidFill>
                  <a:srgbClr val="DCEBE8"/>
                </a:solidFill>
                <a:effectLst/>
                <a:uFillTx/>
                <a:latin typeface="DM Sans"/>
                <a:ea typeface="DM Sans"/>
              </a:rPr>
              <a:t>Climate Action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4942440" y="3235680"/>
            <a:ext cx="3688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0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Quantifying carbon savings per journey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0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against a private-car baseline to reduce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0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urban transit carbon emissions.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7"/>
          <p:cNvSpPr/>
          <p:nvPr/>
        </p:nvSpPr>
        <p:spPr>
          <a:xfrm>
            <a:off x="639720" y="4440240"/>
            <a:ext cx="56880" cy="56880"/>
          </a:xfrm>
          <a:prstGeom prst="rect">
            <a:avLst/>
          </a:prstGeom>
          <a:solidFill>
            <a:srgbClr val="B8F3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824760" y="4392720"/>
            <a:ext cx="618264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024"/>
              </a:spcBef>
              <a:tabLst>
                <a:tab pos="0" algn="l"/>
              </a:tabLst>
            </a:pPr>
            <a:r>
              <a:rPr lang="en-US" sz="900" b="0" u="none" spc="145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EVERY JOURNEY BECOMES VISIBLE, COMPARABLE, AND ACTIONABLE.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B14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1"/>
          <p:cNvSpPr/>
          <p:nvPr/>
        </p:nvSpPr>
        <p:spPr>
          <a:xfrm>
            <a:off x="7534440" y="420840"/>
            <a:ext cx="1317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03 / THE GAP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640080" y="626760"/>
            <a:ext cx="4283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THE QUESTION BEHIND THE PLATFORM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40080" y="848160"/>
            <a:ext cx="520164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060" b="1" u="none" spc="-167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The Problem Statement</a:t>
            </a:r>
            <a:endParaRPr lang="en-IN" sz="3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640080" y="1602720"/>
            <a:ext cx="2542680" cy="27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888120" y="1611720"/>
            <a:ext cx="896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PROBLEM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888120" y="1865880"/>
            <a:ext cx="2494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How might we use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888120" y="2110680"/>
            <a:ext cx="25707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digital intelligence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888120" y="2355840"/>
            <a:ext cx="28450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and carbon-tracking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888120" y="2600640"/>
            <a:ext cx="17640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tools to help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888120" y="2845800"/>
            <a:ext cx="281088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commuters optimize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888120" y="3090600"/>
            <a:ext cx="24638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sustainable travel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888120" y="3335760"/>
            <a:ext cx="271152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choices and reduce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888120" y="3580560"/>
            <a:ext cx="265320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90"/>
              </a:spcBef>
              <a:tabLst>
                <a:tab pos="0" algn="l"/>
              </a:tabLst>
            </a:pPr>
            <a:r>
              <a:rPr lang="en-US" sz="1690" b="0" u="none" strike="noStrike">
                <a:solidFill>
                  <a:srgbClr val="E9F4ED"/>
                </a:solidFill>
                <a:effectLst/>
                <a:uFillTx/>
                <a:latin typeface="Space Grotesk"/>
                <a:ea typeface="Space Grotesk"/>
              </a:rPr>
              <a:t>traffic congestion?</a:t>
            </a:r>
            <a:endParaRPr lang="en-IN" sz="1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3640320" y="1611720"/>
            <a:ext cx="2441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REAL-WORLD PAIN POINTS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3639600" y="1879560"/>
            <a:ext cx="1542600" cy="2452320"/>
          </a:xfrm>
          <a:prstGeom prst="rect">
            <a:avLst/>
          </a:prstGeom>
          <a:solidFill>
            <a:srgbClr val="15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3823200" y="2096280"/>
            <a:ext cx="53640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6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IN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3823200" y="2876040"/>
            <a:ext cx="1549440" cy="12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Urban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commuters lack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real-time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visibility into the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exact carbon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cost of their daily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travel modes.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5300640" y="1879560"/>
            <a:ext cx="1542600" cy="2452320"/>
          </a:xfrm>
          <a:prstGeom prst="rect">
            <a:avLst/>
          </a:prstGeom>
          <a:solidFill>
            <a:srgbClr val="15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5483880" y="2096280"/>
            <a:ext cx="60300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6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02</a:t>
            </a:r>
            <a:endParaRPr lang="en-IN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5483880" y="2876040"/>
            <a:ext cx="1403640" cy="12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Citizens lack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quantified,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engaging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incentives to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choose public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transit or active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mobility.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6961320" y="1879560"/>
            <a:ext cx="1542600" cy="2452320"/>
          </a:xfrm>
          <a:prstGeom prst="rect">
            <a:avLst/>
          </a:prstGeom>
          <a:solidFill>
            <a:srgbClr val="1523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7144560" y="2096280"/>
            <a:ext cx="608040" cy="4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6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03</a:t>
            </a:r>
            <a:endParaRPr lang="en-IN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7144560" y="2876040"/>
            <a:ext cx="155196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Municipalities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need data-driven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insights into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commuting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9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patterns.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0080" y="1602720"/>
            <a:ext cx="2542680" cy="27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"/>
          <p:cNvSpPr/>
          <p:nvPr/>
        </p:nvSpPr>
        <p:spPr>
          <a:xfrm>
            <a:off x="7358040" y="420840"/>
            <a:ext cx="1546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04 / EMPATHIZE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640080" y="678240"/>
            <a:ext cx="4941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DESIGNING FOR THE FULL MOBILITY SYSTEM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640080" y="899280"/>
            <a:ext cx="56502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130" b="1" u="none" spc="-173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Empathize &amp; Target Users</a:t>
            </a:r>
            <a:endParaRPr lang="en-IN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640080" y="1765080"/>
            <a:ext cx="1875960" cy="2852280"/>
          </a:xfrm>
          <a:prstGeom prst="rect">
            <a:avLst/>
          </a:prstGeom>
          <a:solidFill>
            <a:srgbClr val="111E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41320" y="2019240"/>
            <a:ext cx="5493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4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IN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1979640" y="1986120"/>
            <a:ext cx="493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pc="128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DAILY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841320" y="2941200"/>
            <a:ext cx="813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Urban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841320" y="3152520"/>
            <a:ext cx="14943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Commuters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841320" y="3490560"/>
            <a:ext cx="18554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Daily travelers looking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to minimize their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carbon footprint and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travel expenses.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2635920" y="1765080"/>
            <a:ext cx="1875960" cy="2852280"/>
          </a:xfrm>
          <a:prstGeom prst="rect">
            <a:avLst/>
          </a:prstGeom>
          <a:solidFill>
            <a:srgbClr val="111E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2836800" y="2019240"/>
            <a:ext cx="6177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4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02</a:t>
            </a:r>
            <a:endParaRPr lang="en-IN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3925080" y="1986120"/>
            <a:ext cx="5587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pc="128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LEARN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2836800" y="2941200"/>
            <a:ext cx="1451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Students &amp;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2836800" y="3152520"/>
            <a:ext cx="13536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Campuses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2836800" y="3490560"/>
            <a:ext cx="183780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Young adults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navigating urban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transit systems who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benefit from gamified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milestones.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4631760" y="1765080"/>
            <a:ext cx="1875960" cy="2852280"/>
          </a:xfrm>
          <a:prstGeom prst="rect">
            <a:avLst/>
          </a:prstGeom>
          <a:solidFill>
            <a:srgbClr val="111E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4832640" y="2019240"/>
            <a:ext cx="6228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4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03</a:t>
            </a:r>
            <a:endParaRPr lang="en-IN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5995080" y="1986120"/>
            <a:ext cx="4622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pc="128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PLAN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9"/>
          <p:cNvSpPr/>
          <p:nvPr/>
        </p:nvSpPr>
        <p:spPr>
          <a:xfrm>
            <a:off x="4832640" y="2941200"/>
            <a:ext cx="12848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Municipal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4832640" y="3152520"/>
            <a:ext cx="1143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Planners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4832640" y="3490560"/>
            <a:ext cx="177732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Authorities needing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aggregated analytics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dashboards to track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community modal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shifts.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2"/>
          <p:cNvSpPr/>
          <p:nvPr/>
        </p:nvSpPr>
        <p:spPr>
          <a:xfrm>
            <a:off x="6627240" y="1765080"/>
            <a:ext cx="1875960" cy="2852280"/>
          </a:xfrm>
          <a:prstGeom prst="rect">
            <a:avLst/>
          </a:prstGeom>
          <a:solidFill>
            <a:srgbClr val="111E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3"/>
          <p:cNvSpPr/>
          <p:nvPr/>
        </p:nvSpPr>
        <p:spPr>
          <a:xfrm>
            <a:off x="6828120" y="2019240"/>
            <a:ext cx="6346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4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04</a:t>
            </a:r>
            <a:endParaRPr lang="en-IN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7886880" y="1986120"/>
            <a:ext cx="597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pc="128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VERIFY</a:t>
            </a:r>
            <a:endParaRPr lang="en-IN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6828120" y="2941200"/>
            <a:ext cx="18601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Environmental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6828120" y="3152520"/>
            <a:ext cx="1388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645"/>
              </a:spcBef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Advocates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6828120" y="3490560"/>
            <a:ext cx="16581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Users requiring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transparent carbon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offset metrics.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0080" y="1765080"/>
            <a:ext cx="1875960" cy="28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635920" y="1765080"/>
            <a:ext cx="1875960" cy="28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631760" y="1765080"/>
            <a:ext cx="1875960" cy="28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627240" y="1765080"/>
            <a:ext cx="1875960" cy="285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B14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Shape 1"/>
          <p:cNvSpPr/>
          <p:nvPr/>
        </p:nvSpPr>
        <p:spPr>
          <a:xfrm>
            <a:off x="640080" y="411840"/>
            <a:ext cx="1371240" cy="9000"/>
          </a:xfrm>
          <a:prstGeom prst="rect">
            <a:avLst/>
          </a:prstGeom>
          <a:solidFill>
            <a:srgbClr val="68E0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7427880" y="420840"/>
            <a:ext cx="1455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05 / SOLUTION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640080" y="626760"/>
            <a:ext cx="3756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THE PLATFORM IN ONE SENTENCE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640080" y="848160"/>
            <a:ext cx="73947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060" b="1" u="none" spc="-167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The Technical &amp; Solution Overview</a:t>
            </a:r>
            <a:endParaRPr lang="en-IN" sz="3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640080" y="1452960"/>
            <a:ext cx="87998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53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C3D5D2"/>
                </a:solidFill>
                <a:effectLst/>
                <a:uFillTx/>
                <a:latin typeface="DM Sans"/>
                <a:ea typeface="DM Sans"/>
              </a:rPr>
              <a:t>A full-stack Django web application tracking real-world transit journeys, integrating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53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C3D5D2"/>
                </a:solidFill>
                <a:effectLst/>
                <a:uFillTx/>
                <a:latin typeface="DM Sans"/>
                <a:ea typeface="DM Sans"/>
              </a:rPr>
              <a:t>OpenRouteService APIs, calculating precise carbon offsets, and running a gamification engine.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639000" y="2176920"/>
            <a:ext cx="1885680" cy="24807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822960" y="2368800"/>
            <a:ext cx="244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01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1907640" y="2368800"/>
            <a:ext cx="619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ROUTE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714960" y="2902680"/>
            <a:ext cx="218304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OpenRouteService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Integration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822960" y="3535200"/>
            <a:ext cx="2130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Automated routing and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geocoding via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core/services/openroute.py.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2632320" y="2176920"/>
            <a:ext cx="1885680" cy="24807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2816280" y="2368800"/>
            <a:ext cx="2808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02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3721680" y="2368800"/>
            <a:ext cx="853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MEASURE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2816280" y="2902680"/>
            <a:ext cx="134856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Carbon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Calculation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Engine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5"/>
          <p:cNvSpPr/>
          <p:nvPr/>
        </p:nvSpPr>
        <p:spPr>
          <a:xfrm>
            <a:off x="2816280" y="3809880"/>
            <a:ext cx="193248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Precision metrics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comparing transit modes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against car baselines in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core/services/carbon.py.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4625640" y="2176920"/>
            <a:ext cx="1885680" cy="24807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4809600" y="2368800"/>
            <a:ext cx="284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03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5918040" y="2368800"/>
            <a:ext cx="589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TRUST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4809600" y="2902680"/>
            <a:ext cx="172548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Cryptographic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Data Integrity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809600" y="3535200"/>
            <a:ext cx="197460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Secure hashing verifying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journey record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authenticity in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core/services/integrity.py.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6618960" y="2176920"/>
            <a:ext cx="1885680" cy="24807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6802920" y="2368800"/>
            <a:ext cx="28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04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7936560" y="2368800"/>
            <a:ext cx="556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39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BUILD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6802920" y="2902680"/>
            <a:ext cx="156600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Development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Assistance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6802920" y="3535200"/>
            <a:ext cx="200628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Engineered and debugged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in collaboration with IBM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12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BOB.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1"/>
          <p:cNvSpPr/>
          <p:nvPr/>
        </p:nvSpPr>
        <p:spPr>
          <a:xfrm>
            <a:off x="7614000" y="420840"/>
            <a:ext cx="1213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06 / ENGINE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640080" y="626760"/>
            <a:ext cx="3346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BEHAVIOR CHANGE, ENCODED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640080" y="848160"/>
            <a:ext cx="904896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060" b="1" u="none" spc="-167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Architecture &amp; Gamification Service Layer</a:t>
            </a:r>
            <a:endParaRPr lang="en-IN" sz="3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639360" y="1602000"/>
            <a:ext cx="2657160" cy="2876040"/>
          </a:xfrm>
          <a:prstGeom prst="rect">
            <a:avLst/>
          </a:prstGeom>
          <a:solidFill>
            <a:srgbClr val="1221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877680" y="1849680"/>
            <a:ext cx="21078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73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GAMIFICATION ENGINE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877680" y="2080440"/>
            <a:ext cx="2886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85"/>
              </a:spcBef>
              <a:tabLst>
                <a:tab pos="0" algn="l"/>
              </a:tabLst>
            </a:pPr>
            <a:r>
              <a:rPr lang="en-US" sz="1190" b="0" u="none" strike="noStrike">
                <a:solidFill>
                  <a:srgbClr val="B8C8C7"/>
                </a:solidFill>
                <a:effectLst/>
                <a:uFillTx/>
                <a:latin typeface="Space Grotesk"/>
                <a:ea typeface="Space Grotesk"/>
              </a:rPr>
              <a:t>core/services/gamification.py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877680" y="2497680"/>
            <a:ext cx="2180880" cy="14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877680" y="2630520"/>
            <a:ext cx="15620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Points Calculation</a:t>
            </a:r>
            <a:endParaRPr lang="en-IN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877680" y="2866680"/>
            <a:ext cx="21114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Transport-mode multipliers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877680" y="3145680"/>
            <a:ext cx="13204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0F7F4"/>
                </a:solidFill>
                <a:effectLst/>
                <a:uFillTx/>
                <a:latin typeface="DM Sans"/>
                <a:ea typeface="DM Sans"/>
              </a:rPr>
              <a:t>Walking / Cycling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2479680" y="3145680"/>
            <a:ext cx="809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15 pts/km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877680" y="3438360"/>
            <a:ext cx="1052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0F7F4"/>
                </a:solidFill>
                <a:effectLst/>
                <a:uFillTx/>
                <a:latin typeface="DM Sans"/>
                <a:ea typeface="DM Sans"/>
              </a:rPr>
              <a:t>Public Transit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2534040" y="3438360"/>
            <a:ext cx="739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8 pts/km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877680" y="3731040"/>
            <a:ext cx="326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F0F7F4"/>
                </a:solidFill>
                <a:effectLst/>
                <a:uFillTx/>
                <a:latin typeface="DM Sans"/>
                <a:ea typeface="DM Sans"/>
              </a:rPr>
              <a:t>EVs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2533680" y="3731040"/>
            <a:ext cx="739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3 pts/km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3570480" y="1602000"/>
            <a:ext cx="4933440" cy="2876040"/>
          </a:xfrm>
          <a:prstGeom prst="rect">
            <a:avLst/>
          </a:prstGeom>
          <a:solidFill>
            <a:srgbClr val="0F1B23"/>
          </a:solidFill>
          <a:ln w="4763">
            <a:solidFill>
              <a:srgbClr val="D7EBE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3813120" y="1864440"/>
            <a:ext cx="1360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73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STREAK LOGIC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6649920" y="1854360"/>
            <a:ext cx="2151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1A5B6"/>
                </a:solidFill>
                <a:effectLst/>
                <a:uFillTx/>
                <a:latin typeface="Space Grotesk"/>
                <a:ea typeface="Space Grotesk"/>
              </a:rPr>
              <a:t>Consecutive day validation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9"/>
          <p:cNvSpPr/>
          <p:nvPr/>
        </p:nvSpPr>
        <p:spPr>
          <a:xfrm>
            <a:off x="3901680" y="2339640"/>
            <a:ext cx="409320" cy="409320"/>
          </a:xfrm>
          <a:prstGeom prst="rect">
            <a:avLst/>
          </a:prstGeom>
          <a:noFill/>
          <a:ln w="4763">
            <a:solidFill>
              <a:srgbClr val="B8F3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3942000" y="2419200"/>
            <a:ext cx="3290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IN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3696480" y="2841840"/>
            <a:ext cx="8197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939" b="0" u="none" strike="noStrike">
                <a:solidFill>
                  <a:srgbClr val="F0F7F4"/>
                </a:solidFill>
                <a:effectLst/>
                <a:uFillTx/>
                <a:latin typeface="DM Sans"/>
                <a:ea typeface="DM Sans"/>
              </a:rPr>
              <a:t>First Steps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4634640" y="2669760"/>
            <a:ext cx="732960" cy="9000"/>
          </a:xfrm>
          <a:prstGeom prst="rect">
            <a:avLst/>
          </a:prstGeom>
          <a:solidFill>
            <a:srgbClr val="B7F35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3"/>
          <p:cNvSpPr/>
          <p:nvPr/>
        </p:nvSpPr>
        <p:spPr>
          <a:xfrm>
            <a:off x="5719320" y="2339640"/>
            <a:ext cx="409320" cy="409320"/>
          </a:xfrm>
          <a:prstGeom prst="rect">
            <a:avLst/>
          </a:prstGeom>
          <a:noFill/>
          <a:ln w="4763">
            <a:solidFill>
              <a:srgbClr val="6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5748120" y="2419200"/>
            <a:ext cx="3520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07</a:t>
            </a:r>
            <a:endParaRPr lang="en-IN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5478120" y="2841840"/>
            <a:ext cx="8913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939" b="0" u="none" strike="noStrike">
                <a:solidFill>
                  <a:srgbClr val="F0F7F4"/>
                </a:solidFill>
                <a:effectLst/>
                <a:uFillTx/>
                <a:latin typeface="DM Sans"/>
                <a:ea typeface="DM Sans"/>
              </a:rPr>
              <a:t>Eco Warrior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6480000" y="2669760"/>
            <a:ext cx="732960" cy="9000"/>
          </a:xfrm>
          <a:prstGeom prst="rect">
            <a:avLst/>
          </a:prstGeom>
          <a:solidFill>
            <a:srgbClr val="B7F35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7650000" y="2339640"/>
            <a:ext cx="409320" cy="409320"/>
          </a:xfrm>
          <a:prstGeom prst="rect">
            <a:avLst/>
          </a:prstGeom>
          <a:noFill/>
          <a:ln w="4763">
            <a:solidFill>
              <a:srgbClr val="B8F3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7691760" y="2419200"/>
            <a:ext cx="3258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14</a:t>
            </a:r>
            <a:endParaRPr lang="en-IN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7297920" y="2841840"/>
            <a:ext cx="11138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649"/>
              </a:spcBef>
              <a:tabLst>
                <a:tab pos="0" algn="l"/>
              </a:tabLst>
            </a:pPr>
            <a:r>
              <a:rPr lang="en-US" sz="939" b="0" u="none" strike="noStrike">
                <a:solidFill>
                  <a:srgbClr val="F0F7F4"/>
                </a:solidFill>
                <a:effectLst/>
                <a:uFillTx/>
                <a:latin typeface="DM Sans"/>
                <a:ea typeface="DM Sans"/>
              </a:rPr>
              <a:t>Week of Green</a:t>
            </a:r>
            <a:endParaRPr lang="en-IN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0"/>
          <p:cNvSpPr/>
          <p:nvPr/>
        </p:nvSpPr>
        <p:spPr>
          <a:xfrm>
            <a:off x="3813120" y="3369600"/>
            <a:ext cx="44478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3813120" y="3517920"/>
            <a:ext cx="181260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Achievement logging</a:t>
            </a:r>
            <a:endParaRPr lang="en-IN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2"/>
          <p:cNvSpPr/>
          <p:nvPr/>
        </p:nvSpPr>
        <p:spPr>
          <a:xfrm>
            <a:off x="3813120" y="3749400"/>
            <a:ext cx="26708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Automated milestone records keep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progress visible and auditable.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6128640" y="3517920"/>
            <a:ext cx="171288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Concurrency safety</a:t>
            </a:r>
            <a:endParaRPr lang="en-IN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6128640" y="3749400"/>
            <a:ext cx="255708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Atomic database transactions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(select_for_update) prevent race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conditions.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77680" y="2497680"/>
            <a:ext cx="2180880" cy="140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77680" y="3134880"/>
            <a:ext cx="21808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77680" y="3427560"/>
            <a:ext cx="2180880" cy="23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3813120" y="3369600"/>
            <a:ext cx="4447800" cy="866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B14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Shape 1"/>
          <p:cNvSpPr/>
          <p:nvPr/>
        </p:nvSpPr>
        <p:spPr>
          <a:xfrm>
            <a:off x="640080" y="411840"/>
            <a:ext cx="1371240" cy="9000"/>
          </a:xfrm>
          <a:prstGeom prst="rect">
            <a:avLst/>
          </a:prstGeom>
          <a:solidFill>
            <a:srgbClr val="B8F3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7340040" y="420840"/>
            <a:ext cx="1569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07 / WORKFLOW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640080" y="678240"/>
            <a:ext cx="43614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FROM ONE JOURNEY TO A CITY SIGNAL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640080" y="899280"/>
            <a:ext cx="72961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130" b="1" u="none" spc="-173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Prototype &amp; Live Demo Workflow</a:t>
            </a:r>
            <a:endParaRPr lang="en-IN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639720" y="1868400"/>
            <a:ext cx="1499760" cy="224280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804600" y="2066400"/>
            <a:ext cx="4971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IN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804600" y="2840400"/>
            <a:ext cx="147888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Input Journey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804600" y="3013200"/>
            <a:ext cx="74484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Details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804600" y="3287880"/>
            <a:ext cx="153216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Start, End, Mode via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live GPS tracking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interface.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2230920" y="1868400"/>
            <a:ext cx="1499760" cy="224280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2395440" y="2066400"/>
            <a:ext cx="558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02</a:t>
            </a:r>
            <a:endParaRPr lang="en-IN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2395440" y="2840400"/>
            <a:ext cx="8319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Route &amp;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2395440" y="3013200"/>
            <a:ext cx="9421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Distance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2395440" y="3186000"/>
            <a:ext cx="11865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Calculation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2395440" y="3460680"/>
            <a:ext cx="1443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Via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OpenRouteService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API connectors.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3821760" y="1868400"/>
            <a:ext cx="1499760" cy="224280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3986640" y="2066400"/>
            <a:ext cx="563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03</a:t>
            </a:r>
            <a:endParaRPr lang="en-IN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3986640" y="2840400"/>
            <a:ext cx="7797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Carbon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3986640" y="3013200"/>
            <a:ext cx="83520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Savings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3986640" y="3186000"/>
            <a:ext cx="13683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Computation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3986640" y="3460680"/>
            <a:ext cx="1475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89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Relative to private-car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2"/>
          <p:cNvSpPr/>
          <p:nvPr/>
        </p:nvSpPr>
        <p:spPr>
          <a:xfrm>
            <a:off x="4202640" y="3621240"/>
            <a:ext cx="7056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689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baseline.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3"/>
          <p:cNvSpPr/>
          <p:nvPr/>
        </p:nvSpPr>
        <p:spPr>
          <a:xfrm>
            <a:off x="5412960" y="1868400"/>
            <a:ext cx="1499760" cy="224280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5577840" y="2066400"/>
            <a:ext cx="5738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04</a:t>
            </a:r>
            <a:endParaRPr lang="en-IN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5"/>
          <p:cNvSpPr/>
          <p:nvPr/>
        </p:nvSpPr>
        <p:spPr>
          <a:xfrm>
            <a:off x="5577840" y="2840400"/>
            <a:ext cx="15019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Gamification &amp;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5577840" y="3013200"/>
            <a:ext cx="69012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Points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5577840" y="3186000"/>
            <a:ext cx="9345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Awarded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5577840" y="3460680"/>
            <a:ext cx="127368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Streak update in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database.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7003800" y="1868400"/>
            <a:ext cx="1499760" cy="2242800"/>
          </a:xfrm>
          <a:prstGeom prst="rect">
            <a:avLst/>
          </a:prstGeom>
          <a:solidFill>
            <a:srgbClr val="12252A"/>
          </a:solidFill>
          <a:ln w="4763">
            <a:solidFill>
              <a:srgbClr val="B8F45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0"/>
          <p:cNvSpPr/>
          <p:nvPr/>
        </p:nvSpPr>
        <p:spPr>
          <a:xfrm>
            <a:off x="7173360" y="2071440"/>
            <a:ext cx="5601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05</a:t>
            </a:r>
            <a:endParaRPr lang="en-IN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1"/>
          <p:cNvSpPr/>
          <p:nvPr/>
        </p:nvSpPr>
        <p:spPr>
          <a:xfrm>
            <a:off x="7173360" y="2845440"/>
            <a:ext cx="142740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Data Export &amp;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2"/>
          <p:cNvSpPr/>
          <p:nvPr/>
        </p:nvSpPr>
        <p:spPr>
          <a:xfrm>
            <a:off x="7173360" y="3018240"/>
            <a:ext cx="9993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126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Analytics</a:t>
            </a:r>
            <a:endParaRPr lang="en-IN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3"/>
          <p:cNvSpPr/>
          <p:nvPr/>
        </p:nvSpPr>
        <p:spPr>
          <a:xfrm>
            <a:off x="7173360" y="3292560"/>
            <a:ext cx="135828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CSV/JSON/PDF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report generation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4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via ReportLab.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4"/>
          <p:cNvSpPr/>
          <p:nvPr/>
        </p:nvSpPr>
        <p:spPr>
          <a:xfrm>
            <a:off x="2438640" y="4480920"/>
            <a:ext cx="426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2835"/>
              </a:spcBef>
              <a:tabLst>
                <a:tab pos="0" algn="l"/>
              </a:tabLst>
            </a:pPr>
            <a:r>
              <a:rPr lang="en-US" sz="970" b="0" u="none" spc="176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CAPTURE → COMPARE → REWARD → LEARN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5"/>
          <p:cNvSpPr/>
          <p:nvPr/>
        </p:nvSpPr>
        <p:spPr>
          <a:xfrm>
            <a:off x="2114640" y="2551680"/>
            <a:ext cx="25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6"/>
          <p:cNvSpPr/>
          <p:nvPr/>
        </p:nvSpPr>
        <p:spPr>
          <a:xfrm>
            <a:off x="3705480" y="2551680"/>
            <a:ext cx="25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7"/>
          <p:cNvSpPr/>
          <p:nvPr/>
        </p:nvSpPr>
        <p:spPr>
          <a:xfrm>
            <a:off x="5296680" y="2551680"/>
            <a:ext cx="25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8"/>
          <p:cNvSpPr/>
          <p:nvPr/>
        </p:nvSpPr>
        <p:spPr>
          <a:xfrm>
            <a:off x="6887520" y="2551680"/>
            <a:ext cx="25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1"/>
          <p:cNvSpPr/>
          <p:nvPr/>
        </p:nvSpPr>
        <p:spPr>
          <a:xfrm>
            <a:off x="7670160" y="420840"/>
            <a:ext cx="1140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08 / PROOF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640080" y="678240"/>
            <a:ext cx="4050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BUILT TO HOLD UP UNDER SCRUTINY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640080" y="899280"/>
            <a:ext cx="54864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130" b="1" u="none" spc="-173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Robust Quality &amp; Testing</a:t>
            </a:r>
            <a:endParaRPr lang="en-IN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"/>
          <p:cNvSpPr/>
          <p:nvPr/>
        </p:nvSpPr>
        <p:spPr>
          <a:xfrm>
            <a:off x="639360" y="1715040"/>
            <a:ext cx="2700000" cy="3009600"/>
          </a:xfrm>
          <a:prstGeom prst="rect">
            <a:avLst/>
          </a:prstGeom>
          <a:solidFill>
            <a:srgbClr val="122129"/>
          </a:solidFill>
          <a:ln w="4763">
            <a:solidFill>
              <a:srgbClr val="B8F45B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2207520" y="1865880"/>
            <a:ext cx="1284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56" strike="noStrike">
                <a:solidFill>
                  <a:srgbClr val="91A5B6"/>
                </a:solidFill>
                <a:effectLst/>
                <a:uFillTx/>
                <a:latin typeface="Space Grotesk"/>
                <a:ea typeface="Space Grotesk"/>
              </a:rPr>
              <a:t>SUITE STATUS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919080" y="1774440"/>
            <a:ext cx="1874160" cy="12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19" b="1" u="none" spc="-791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150</a:t>
            </a:r>
            <a:endParaRPr lang="en-IN" sz="791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919080" y="2970360"/>
            <a:ext cx="256824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2268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/ 150 Automated Test</a:t>
            </a:r>
            <a:endParaRPr lang="en-IN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Suite</a:t>
            </a:r>
            <a:endParaRPr lang="en-IN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919080" y="3681360"/>
            <a:ext cx="280836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Comprehensive unit and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integration test coverage across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all domain models and API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9FB3B1"/>
                </a:solidFill>
                <a:effectLst/>
                <a:uFillTx/>
                <a:latin typeface="DM Sans"/>
                <a:ea typeface="DM Sans"/>
              </a:rPr>
              <a:t>endpoints with zero regressions.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3704400" y="1714680"/>
            <a:ext cx="4800240" cy="1109160"/>
          </a:xfrm>
          <a:prstGeom prst="rect">
            <a:avLst/>
          </a:prstGeom>
          <a:solidFill>
            <a:srgbClr val="1220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3897000" y="1930320"/>
            <a:ext cx="23702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Production Security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7705800" y="2001600"/>
            <a:ext cx="844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56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VERIFIED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3897000" y="2262600"/>
            <a:ext cx="57369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Verified via Django system deployment checks securing environment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keys and database integrity.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3704400" y="2962440"/>
            <a:ext cx="4800240" cy="1109160"/>
          </a:xfrm>
          <a:prstGeom prst="rect">
            <a:avLst/>
          </a:prstGeom>
          <a:solidFill>
            <a:srgbClr val="1220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3897000" y="3177720"/>
            <a:ext cx="21582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Open Architecture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7879680" y="3249360"/>
            <a:ext cx="618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56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READY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3897000" y="3510360"/>
            <a:ext cx="50785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Clean 6-domain model structure with 9 REST-style JSON API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7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endpoints and a staff-facing analytics dashboard.</a:t>
            </a:r>
            <a:endParaRPr lang="en-IN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7"/>
          <p:cNvSpPr/>
          <p:nvPr/>
        </p:nvSpPr>
        <p:spPr>
          <a:xfrm>
            <a:off x="3704760" y="4286160"/>
            <a:ext cx="52200" cy="52200"/>
          </a:xfrm>
          <a:prstGeom prst="rect">
            <a:avLst/>
          </a:prstGeom>
          <a:solidFill>
            <a:srgbClr val="B8F3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7560" rIns="90000" bIns="75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3848040" y="4296240"/>
            <a:ext cx="4750200" cy="1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45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QUALITY IS A PRODUCT FEATURE, NOT A FINAL STEP.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704400" y="1714680"/>
            <a:ext cx="4800240" cy="11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704400" y="2962440"/>
            <a:ext cx="4800240" cy="110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B14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Shape 1"/>
          <p:cNvSpPr/>
          <p:nvPr/>
        </p:nvSpPr>
        <p:spPr>
          <a:xfrm>
            <a:off x="640080" y="411840"/>
            <a:ext cx="1371240" cy="9000"/>
          </a:xfrm>
          <a:prstGeom prst="rect">
            <a:avLst/>
          </a:prstGeom>
          <a:solidFill>
            <a:srgbClr val="68E0E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7698600" y="420840"/>
            <a:ext cx="1104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09 / TRUST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"/>
          <p:cNvSpPr/>
          <p:nvPr/>
        </p:nvSpPr>
        <p:spPr>
          <a:xfrm>
            <a:off x="640080" y="678240"/>
            <a:ext cx="5214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PRINCIPLES FOR A SYSTEM PEOPLE CAN TRUST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640080" y="899280"/>
            <a:ext cx="514908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130" b="1" u="none" spc="-173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Responsible AI &amp; Ethics</a:t>
            </a:r>
            <a:endParaRPr lang="en-IN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5"/>
          <p:cNvSpPr/>
          <p:nvPr/>
        </p:nvSpPr>
        <p:spPr>
          <a:xfrm>
            <a:off x="640440" y="1713600"/>
            <a:ext cx="3866760" cy="14331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865080" y="1934640"/>
            <a:ext cx="11034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Fairness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"/>
          <p:cNvSpPr/>
          <p:nvPr/>
        </p:nvSpPr>
        <p:spPr>
          <a:xfrm>
            <a:off x="4113360" y="1948320"/>
            <a:ext cx="30852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01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865080" y="2371320"/>
            <a:ext cx="40392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Universal point multipliers applied consistently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across transport modes with no algorithmic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bias.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9"/>
          <p:cNvSpPr/>
          <p:nvPr/>
        </p:nvSpPr>
        <p:spPr>
          <a:xfrm>
            <a:off x="4636440" y="1713600"/>
            <a:ext cx="3866760" cy="14331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4861080" y="1934640"/>
            <a:ext cx="17830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Transparency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8075520" y="1948320"/>
            <a:ext cx="3524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02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4861080" y="2371320"/>
            <a:ext cx="40752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All carbon savings and point calculations follow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clear, rule-based mathematical formulas open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to audit.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640440" y="3273840"/>
            <a:ext cx="3866760" cy="14331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865080" y="3494880"/>
            <a:ext cx="23522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Privacy &amp; Security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4079160" y="3508200"/>
            <a:ext cx="35280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68E0E5"/>
                </a:solidFill>
                <a:effectLst/>
                <a:uFillTx/>
                <a:latin typeface="Space Grotesk"/>
                <a:ea typeface="Space Grotesk"/>
              </a:rPr>
              <a:t>03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6"/>
          <p:cNvSpPr/>
          <p:nvPr/>
        </p:nvSpPr>
        <p:spPr>
          <a:xfrm>
            <a:off x="865080" y="3931560"/>
            <a:ext cx="414684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Strict ownership checks protecting user journey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histories and personal profile data.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7"/>
          <p:cNvSpPr/>
          <p:nvPr/>
        </p:nvSpPr>
        <p:spPr>
          <a:xfrm>
            <a:off x="4636440" y="3273840"/>
            <a:ext cx="3866760" cy="1433160"/>
          </a:xfrm>
          <a:prstGeom prst="rect">
            <a:avLst/>
          </a:prstGeom>
          <a:solidFill>
            <a:srgbClr val="142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8"/>
          <p:cNvSpPr/>
          <p:nvPr/>
        </p:nvSpPr>
        <p:spPr>
          <a:xfrm>
            <a:off x="4861080" y="3494880"/>
            <a:ext cx="1313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Reliability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9"/>
          <p:cNvSpPr/>
          <p:nvPr/>
        </p:nvSpPr>
        <p:spPr>
          <a:xfrm>
            <a:off x="8071200" y="3508200"/>
            <a:ext cx="35784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0" u="none" strike="noStrike">
                <a:solidFill>
                  <a:srgbClr val="B8F35B"/>
                </a:solidFill>
                <a:effectLst/>
                <a:uFillTx/>
                <a:latin typeface="Space Grotesk"/>
                <a:ea typeface="Space Grotesk"/>
              </a:rPr>
              <a:t>04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0"/>
          <p:cNvSpPr/>
          <p:nvPr/>
        </p:nvSpPr>
        <p:spPr>
          <a:xfrm>
            <a:off x="4861080" y="3931560"/>
            <a:ext cx="356328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Zero-tolerance for hallucinations through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deterministic Python backend logic and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5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B7C9C6"/>
                </a:solidFill>
                <a:effectLst/>
                <a:uFillTx/>
                <a:latin typeface="DM Sans"/>
                <a:ea typeface="DM Sans"/>
              </a:rPr>
              <a:t>cryptographic transaction safeguards.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0440" y="1713600"/>
            <a:ext cx="386676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636440" y="1713600"/>
            <a:ext cx="386676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40440" y="3273840"/>
            <a:ext cx="3866760" cy="14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636440" y="3273840"/>
            <a:ext cx="3866760" cy="143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11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1"/>
          <p:cNvSpPr/>
          <p:nvPr/>
        </p:nvSpPr>
        <p:spPr>
          <a:xfrm>
            <a:off x="7641000" y="420840"/>
            <a:ext cx="1178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10 / IMPACT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640080" y="678240"/>
            <a:ext cx="5800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A CHAIN REACTION THAT STARTS WITH ONE CHOICE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640080" y="899280"/>
            <a:ext cx="915336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811"/>
              </a:spcBef>
              <a:tabLst>
                <a:tab pos="0" algn="l"/>
              </a:tabLst>
            </a:pPr>
            <a:r>
              <a:rPr lang="en-US" sz="3130" b="1" u="none" spc="-173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Impact Statement &amp; Expected Outcomes</a:t>
            </a:r>
            <a:endParaRPr lang="en-IN" sz="3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640080" y="1513440"/>
            <a:ext cx="2964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216"/>
              </a:spcBef>
              <a:tabLst>
                <a:tab pos="0" algn="l"/>
              </a:tabLst>
            </a:pPr>
            <a:r>
              <a:rPr lang="en-US" sz="1220" b="0" u="none" strike="noStrike">
                <a:solidFill>
                  <a:srgbClr val="C3D5D2"/>
                </a:solidFill>
                <a:effectLst/>
                <a:uFillTx/>
                <a:latin typeface="DM Sans"/>
                <a:ea typeface="DM Sans"/>
              </a:rPr>
              <a:t>What changes if implemented?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639360" y="1976040"/>
            <a:ext cx="16761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640080" y="2111760"/>
            <a:ext cx="2229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Everyday modal shifts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640080" y="2391480"/>
            <a:ext cx="2104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toward public/active transit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2424960" y="2139480"/>
            <a:ext cx="275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2702520" y="1976040"/>
            <a:ext cx="16761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2702880" y="2111760"/>
            <a:ext cx="1918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Lower urban traffic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2702880" y="2391480"/>
            <a:ext cx="878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congestion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4487760" y="2139480"/>
            <a:ext cx="275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4765320" y="1976040"/>
            <a:ext cx="16761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4"/>
          <p:cNvSpPr/>
          <p:nvPr/>
        </p:nvSpPr>
        <p:spPr>
          <a:xfrm>
            <a:off x="4766040" y="2111760"/>
            <a:ext cx="1905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Reduced city-wide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4766040" y="2391480"/>
            <a:ext cx="1365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carbon emissions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6550920" y="2139480"/>
            <a:ext cx="275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→</a:t>
            </a:r>
            <a:endParaRPr lang="en-IN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7"/>
          <p:cNvSpPr/>
          <p:nvPr/>
        </p:nvSpPr>
        <p:spPr>
          <a:xfrm>
            <a:off x="6828480" y="1976040"/>
            <a:ext cx="16761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8"/>
          <p:cNvSpPr/>
          <p:nvPr/>
        </p:nvSpPr>
        <p:spPr>
          <a:xfrm>
            <a:off x="6828840" y="2111760"/>
            <a:ext cx="16308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Measurable SDG</a:t>
            </a:r>
            <a:endParaRPr lang="en-IN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9"/>
          <p:cNvSpPr/>
          <p:nvPr/>
        </p:nvSpPr>
        <p:spPr>
          <a:xfrm>
            <a:off x="6828840" y="2391480"/>
            <a:ext cx="15318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11 + SDG 13 progress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0"/>
          <p:cNvSpPr/>
          <p:nvPr/>
        </p:nvSpPr>
        <p:spPr>
          <a:xfrm>
            <a:off x="639360" y="2977920"/>
            <a:ext cx="2542680" cy="1252080"/>
          </a:xfrm>
          <a:prstGeom prst="rect">
            <a:avLst/>
          </a:prstGeom>
          <a:solidFill>
            <a:srgbClr val="122029"/>
          </a:solidFill>
          <a:ln w="4763">
            <a:solidFill>
              <a:srgbClr val="D7EBE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1"/>
          <p:cNvSpPr/>
          <p:nvPr/>
        </p:nvSpPr>
        <p:spPr>
          <a:xfrm>
            <a:off x="846000" y="3193920"/>
            <a:ext cx="11160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pc="150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COMMUTERS</a:t>
            </a:r>
            <a:endParaRPr lang="en-IN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2"/>
          <p:cNvSpPr/>
          <p:nvPr/>
        </p:nvSpPr>
        <p:spPr>
          <a:xfrm>
            <a:off x="846000" y="3466440"/>
            <a:ext cx="25779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Clear gamified incentives and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badges for green travel.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3"/>
          <p:cNvSpPr/>
          <p:nvPr/>
        </p:nvSpPr>
        <p:spPr>
          <a:xfrm>
            <a:off x="3300480" y="2977920"/>
            <a:ext cx="2542680" cy="1252080"/>
          </a:xfrm>
          <a:prstGeom prst="rect">
            <a:avLst/>
          </a:prstGeom>
          <a:solidFill>
            <a:srgbClr val="122029"/>
          </a:solidFill>
          <a:ln w="4763">
            <a:solidFill>
              <a:srgbClr val="D7EBE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4"/>
          <p:cNvSpPr/>
          <p:nvPr/>
        </p:nvSpPr>
        <p:spPr>
          <a:xfrm>
            <a:off x="3506760" y="3193920"/>
            <a:ext cx="5997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pc="150" strike="noStrike">
                <a:solidFill>
                  <a:srgbClr val="68E0E5"/>
                </a:solidFill>
                <a:effectLst/>
                <a:uFillTx/>
                <a:latin typeface="DM Sans"/>
                <a:ea typeface="DM Sans"/>
              </a:rPr>
              <a:t>CITIES</a:t>
            </a:r>
            <a:endParaRPr lang="en-IN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5"/>
          <p:cNvSpPr/>
          <p:nvPr/>
        </p:nvSpPr>
        <p:spPr>
          <a:xfrm>
            <a:off x="3506760" y="3466440"/>
            <a:ext cx="24908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Actionable data insights into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sustainable urban mobility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trends.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6"/>
          <p:cNvSpPr/>
          <p:nvPr/>
        </p:nvSpPr>
        <p:spPr>
          <a:xfrm>
            <a:off x="5961240" y="2977920"/>
            <a:ext cx="2542680" cy="1252080"/>
          </a:xfrm>
          <a:prstGeom prst="rect">
            <a:avLst/>
          </a:prstGeom>
          <a:solidFill>
            <a:srgbClr val="122029"/>
          </a:solidFill>
          <a:ln w="4763">
            <a:solidFill>
              <a:srgbClr val="D7EBE4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7"/>
          <p:cNvSpPr/>
          <p:nvPr/>
        </p:nvSpPr>
        <p:spPr>
          <a:xfrm>
            <a:off x="6167880" y="3193920"/>
            <a:ext cx="77976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pc="150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CLIMATE</a:t>
            </a:r>
            <a:endParaRPr lang="en-IN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8"/>
          <p:cNvSpPr/>
          <p:nvPr/>
        </p:nvSpPr>
        <p:spPr>
          <a:xfrm>
            <a:off x="6167880" y="3466080"/>
            <a:ext cx="270324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012"/>
              </a:spcBef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Measurable reduction in fossil-fuel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9"/>
          <p:cNvSpPr/>
          <p:nvPr/>
        </p:nvSpPr>
        <p:spPr>
          <a:xfrm>
            <a:off x="6446880" y="3650400"/>
            <a:ext cx="195876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012"/>
              </a:spcBef>
              <a:tabLst>
                <a:tab pos="0" algn="l"/>
              </a:tabLst>
            </a:pPr>
            <a:r>
              <a:rPr lang="en-US" sz="1120" b="0" u="none" strike="noStrike">
                <a:solidFill>
                  <a:srgbClr val="D8E8E4"/>
                </a:solidFill>
                <a:effectLst/>
                <a:uFillTx/>
                <a:latin typeface="DM Sans"/>
                <a:ea typeface="DM Sans"/>
              </a:rPr>
              <a:t>vehicle dependencies.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9360" y="1976040"/>
            <a:ext cx="1676160" cy="59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702520" y="1976040"/>
            <a:ext cx="1676160" cy="59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765320" y="1976040"/>
            <a:ext cx="1676160" cy="59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828480" y="1976040"/>
            <a:ext cx="1676160" cy="59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710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Shape 1"/>
          <p:cNvSpPr/>
          <p:nvPr/>
        </p:nvSpPr>
        <p:spPr>
          <a:xfrm>
            <a:off x="4753800" y="2725920"/>
            <a:ext cx="5304960" cy="360000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B7F35C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"/>
          <p:cNvSpPr/>
          <p:nvPr/>
        </p:nvSpPr>
        <p:spPr>
          <a:xfrm>
            <a:off x="5669280" y="2572200"/>
            <a:ext cx="2742840" cy="1747440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68DFE3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640080" y="420840"/>
            <a:ext cx="103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173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11 / CLOSE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640080" y="898560"/>
            <a:ext cx="2775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232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ONE JOURNEY AT A TIME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640080" y="1147680"/>
            <a:ext cx="66823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216"/>
              </a:spcBef>
              <a:tabLst>
                <a:tab pos="0" algn="l"/>
              </a:tabLst>
            </a:pPr>
            <a:r>
              <a:rPr lang="en-US" sz="4030" b="1" u="none" spc="-261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Conclusion &amp; Thank You</a:t>
            </a:r>
            <a:endParaRPr lang="en-IN" sz="4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6"/>
          <p:cNvSpPr/>
          <p:nvPr/>
        </p:nvSpPr>
        <p:spPr>
          <a:xfrm>
            <a:off x="639720" y="2029320"/>
            <a:ext cx="5852880" cy="10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869760" y="2009520"/>
            <a:ext cx="6294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10" b="0" u="none" strike="noStrike">
                <a:solidFill>
                  <a:srgbClr val="E6F1EA"/>
                </a:solidFill>
                <a:effectLst/>
                <a:uFillTx/>
                <a:latin typeface="Space Grotesk"/>
                <a:ea typeface="Space Grotesk"/>
              </a:rPr>
              <a:t>Small daily travel choices compound into</a:t>
            </a:r>
            <a:endParaRPr lang="en-IN" sz="1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8"/>
          <p:cNvSpPr/>
          <p:nvPr/>
        </p:nvSpPr>
        <p:spPr>
          <a:xfrm>
            <a:off x="869760" y="2288160"/>
            <a:ext cx="36331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10" b="0" u="none" strike="noStrike">
                <a:solidFill>
                  <a:srgbClr val="E6F1EA"/>
                </a:solidFill>
                <a:effectLst/>
                <a:uFillTx/>
                <a:latin typeface="Space Grotesk"/>
                <a:ea typeface="Space Grotesk"/>
              </a:rPr>
              <a:t>systemic urban impact.</a:t>
            </a:r>
            <a:endParaRPr lang="en-IN" sz="1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869760" y="2693520"/>
            <a:ext cx="7164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ts val="166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EcoTransit V1 proves how software intelligence and gamification can transform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64"/>
              </a:lnSpc>
              <a:tabLst>
                <a:tab pos="0" algn="l"/>
              </a:tabLst>
            </a:pPr>
            <a:r>
              <a:rPr lang="en-US" sz="1190" b="0" u="none" strike="noStrike">
                <a:solidFill>
                  <a:srgbClr val="A9BDBB"/>
                </a:solidFill>
                <a:effectLst/>
                <a:uFillTx/>
                <a:latin typeface="DM Sans"/>
                <a:ea typeface="DM Sans"/>
              </a:rPr>
              <a:t>daily commuting habits into sustainable action.</a:t>
            </a:r>
            <a:endParaRPr lang="en-IN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0"/>
          <p:cNvSpPr/>
          <p:nvPr/>
        </p:nvSpPr>
        <p:spPr>
          <a:xfrm>
            <a:off x="640440" y="3625560"/>
            <a:ext cx="78624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640080" y="3772800"/>
            <a:ext cx="1303560" cy="2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0F7F4"/>
                </a:solidFill>
                <a:effectLst/>
                <a:uFillTx/>
                <a:latin typeface="Space Grotesk"/>
                <a:ea typeface="Space Grotesk"/>
              </a:rPr>
              <a:t>Thank You!</a:t>
            </a:r>
            <a:endParaRPr lang="en-IN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640080" y="4078800"/>
            <a:ext cx="2646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3"/>
              </a:spcBef>
              <a:tabLst>
                <a:tab pos="0" algn="l"/>
              </a:tabLst>
            </a:pPr>
            <a:r>
              <a:rPr lang="en-US" sz="970" b="0" u="none" strike="noStrike">
                <a:solidFill>
                  <a:srgbClr val="B5C9C7"/>
                </a:solidFill>
                <a:effectLst/>
                <a:uFillTx/>
                <a:latin typeface="DM Sans"/>
                <a:ea typeface="DM Sans"/>
              </a:rPr>
              <a:t>EcoTransit V1 | Savio Chacko Xavier</a:t>
            </a:r>
            <a:endParaRPr lang="en-IN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6395400" y="3893400"/>
            <a:ext cx="21081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pc="156" strike="noStrike">
                <a:solidFill>
                  <a:srgbClr val="91A5B6"/>
                </a:solidFill>
                <a:effectLst/>
                <a:uFillTx/>
                <a:latin typeface="DM Sans"/>
                <a:ea typeface="DM Sans"/>
              </a:rPr>
              <a:t>AI FOR SUSTAINABILITY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4"/>
          <p:cNvSpPr/>
          <p:nvPr/>
        </p:nvSpPr>
        <p:spPr>
          <a:xfrm>
            <a:off x="6979680" y="4099320"/>
            <a:ext cx="1523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 defTabSz="914400">
              <a:lnSpc>
                <a:spcPct val="100000"/>
              </a:lnSpc>
              <a:spcBef>
                <a:spcPts val="323"/>
              </a:spcBef>
              <a:tabLst>
                <a:tab pos="0" algn="l"/>
              </a:tabLst>
            </a:pPr>
            <a:r>
              <a:rPr lang="en-US" sz="860" b="0" u="none" strike="noStrike">
                <a:solidFill>
                  <a:srgbClr val="B8F35B"/>
                </a:solidFill>
                <a:effectLst/>
                <a:uFillTx/>
                <a:latin typeface="DM Sans"/>
                <a:ea typeface="DM Sans"/>
              </a:rPr>
              <a:t>IBM SkillsBuild × AICTE</a:t>
            </a:r>
            <a:endParaRPr lang="en-IN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9720" y="2029320"/>
            <a:ext cx="585288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40440" y="3625560"/>
            <a:ext cx="7862400" cy="62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2026-09-21T07:00:25Z</dcterms:created>
  <dc:creator>PptxGenJS</dc:creator>
  <dc:description/>
  <dc:language>en-IN</dc:language>
  <cp:lastModifiedBy/>
  <dcterms:modified xsi:type="dcterms:W3CDTF">2026-09-21T13:29:29Z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